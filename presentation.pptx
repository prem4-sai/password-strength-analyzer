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8" r:id="rId2"/>
    <p:sldId id="257" r:id="rId3"/>
    <p:sldId id="259" r:id="rId4"/>
    <p:sldId id="260" r:id="rId5"/>
    <p:sldId id="261" r:id="rId6"/>
    <p:sldId id="262" r:id="rId7"/>
    <p:sldId id="263" r:id="rId8"/>
    <p:sldId id="264" r:id="rId9"/>
    <p:sldId id="265" r:id="rId10"/>
    <p:sldId id="266"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6D701F84-C5D5-436C-8E66-2658691C671B}" type="datetimeFigureOut">
              <a:rPr lang="en-IN" smtClean="0"/>
              <a:t>06-07-2026</a:t>
            </a:fld>
            <a:endParaRPr lang="en-IN"/>
          </a:p>
        </p:txBody>
      </p:sp>
      <p:sp>
        <p:nvSpPr>
          <p:cNvPr id="5" name="Footer Placeholder 4"/>
          <p:cNvSpPr>
            <a:spLocks noGrp="1"/>
          </p:cNvSpPr>
          <p:nvPr>
            <p:ph type="ftr" sz="quarter" idx="11"/>
          </p:nvPr>
        </p:nvSpPr>
        <p:spPr>
          <a:xfrm>
            <a:off x="2692397" y="5037663"/>
            <a:ext cx="5214635" cy="279400"/>
          </a:xfrm>
        </p:spPr>
        <p:txBody>
          <a:bodyPr/>
          <a:lstStyle/>
          <a:p>
            <a:endParaRPr lang="en-IN"/>
          </a:p>
        </p:txBody>
      </p:sp>
      <p:sp>
        <p:nvSpPr>
          <p:cNvPr id="6" name="Slide Number Placeholder 5"/>
          <p:cNvSpPr>
            <a:spLocks noGrp="1"/>
          </p:cNvSpPr>
          <p:nvPr>
            <p:ph type="sldNum" sz="quarter" idx="12"/>
          </p:nvPr>
        </p:nvSpPr>
        <p:spPr>
          <a:xfrm>
            <a:off x="8956900" y="5037663"/>
            <a:ext cx="551167" cy="279400"/>
          </a:xfrm>
        </p:spPr>
        <p:txBody>
          <a:bodyPr/>
          <a:lstStyle/>
          <a:p>
            <a:fld id="{D2E1B911-D52B-4FDC-97D4-1B12FE73E135}" type="slidenum">
              <a:rPr lang="en-IN" smtClean="0"/>
              <a:t>‹#›</a:t>
            </a:fld>
            <a:endParaRPr lang="en-IN"/>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906431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D701F84-C5D5-436C-8E66-2658691C671B}" type="datetimeFigureOut">
              <a:rPr lang="en-IN" smtClean="0"/>
              <a:t>06-07-2026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E1B911-D52B-4FDC-97D4-1B12FE73E135}" type="slidenum">
              <a:rPr lang="en-IN" smtClean="0"/>
              <a:t>‹#›</a:t>
            </a:fld>
            <a:endParaRPr lang="en-IN"/>
          </a:p>
        </p:txBody>
      </p:sp>
    </p:spTree>
    <p:extLst>
      <p:ext uri="{BB962C8B-B14F-4D97-AF65-F5344CB8AC3E}">
        <p14:creationId xmlns:p14="http://schemas.microsoft.com/office/powerpoint/2010/main" val="2844301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D701F84-C5D5-436C-8E66-2658691C671B}" type="datetimeFigureOut">
              <a:rPr lang="en-IN" smtClean="0"/>
              <a:t>06-07-2026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E1B911-D52B-4FDC-97D4-1B12FE73E135}" type="slidenum">
              <a:rPr lang="en-IN" smtClean="0"/>
              <a:t>‹#›</a:t>
            </a:fld>
            <a:endParaRPr lang="en-IN"/>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231128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D701F84-C5D5-436C-8E66-2658691C671B}" type="datetimeFigureOut">
              <a:rPr lang="en-IN" smtClean="0"/>
              <a:t>06-07-2026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2E1B911-D52B-4FDC-97D4-1B12FE73E135}" type="slidenum">
              <a:rPr lang="en-IN" smtClean="0"/>
              <a:t>‹#›</a:t>
            </a:fld>
            <a:endParaRPr lang="en-IN"/>
          </a:p>
        </p:txBody>
      </p:sp>
    </p:spTree>
    <p:extLst>
      <p:ext uri="{BB962C8B-B14F-4D97-AF65-F5344CB8AC3E}">
        <p14:creationId xmlns:p14="http://schemas.microsoft.com/office/powerpoint/2010/main" val="28191879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D701F84-C5D5-436C-8E66-2658691C671B}" type="datetimeFigureOut">
              <a:rPr lang="en-IN" smtClean="0"/>
              <a:t>06-07-2026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2E1B911-D52B-4FDC-97D4-1B12FE73E135}" type="slidenum">
              <a:rPr lang="en-IN" smtClean="0"/>
              <a:t>‹#›</a:t>
            </a:fld>
            <a:endParaRPr lang="en-IN"/>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184775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D701F84-C5D5-436C-8E66-2658691C671B}" type="datetimeFigureOut">
              <a:rPr lang="en-IN" smtClean="0"/>
              <a:t>06-07-2026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2E1B911-D52B-4FDC-97D4-1B12FE73E135}"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08370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D701F84-C5D5-436C-8E66-2658691C671B}" type="datetimeFigureOut">
              <a:rPr lang="en-IN" smtClean="0"/>
              <a:t>06-07-2026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2E1B911-D52B-4FDC-97D4-1B12FE73E135}" type="slidenum">
              <a:rPr lang="en-IN" smtClean="0"/>
              <a:t>‹#›</a:t>
            </a:fld>
            <a:endParaRPr lang="en-IN"/>
          </a:p>
        </p:txBody>
      </p:sp>
    </p:spTree>
    <p:extLst>
      <p:ext uri="{BB962C8B-B14F-4D97-AF65-F5344CB8AC3E}">
        <p14:creationId xmlns:p14="http://schemas.microsoft.com/office/powerpoint/2010/main" val="38890368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D701F84-C5D5-436C-8E66-2658691C671B}" type="datetimeFigureOut">
              <a:rPr lang="en-IN" smtClean="0"/>
              <a:t>06-07-2026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2E1B911-D52B-4FDC-97D4-1B12FE73E135}" type="slidenum">
              <a:rPr lang="en-IN" smtClean="0"/>
              <a:t>‹#›</a:t>
            </a:fld>
            <a:endParaRPr lang="en-IN"/>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38582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D701F84-C5D5-436C-8E66-2658691C671B}" type="datetimeFigureOut">
              <a:rPr lang="en-IN" smtClean="0"/>
              <a:t>06-07-2026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2E1B911-D52B-4FDC-97D4-1B12FE73E135}" type="slidenum">
              <a:rPr lang="en-IN" smtClean="0"/>
              <a:t>‹#›</a:t>
            </a:fld>
            <a:endParaRPr lang="en-IN"/>
          </a:p>
        </p:txBody>
      </p:sp>
    </p:spTree>
    <p:extLst>
      <p:ext uri="{BB962C8B-B14F-4D97-AF65-F5344CB8AC3E}">
        <p14:creationId xmlns:p14="http://schemas.microsoft.com/office/powerpoint/2010/main" val="29157632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D701F84-C5D5-436C-8E66-2658691C671B}" type="datetimeFigureOut">
              <a:rPr lang="en-IN" smtClean="0"/>
              <a:t>06-07-2026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2E1B911-D52B-4FDC-97D4-1B12FE73E135}" type="slidenum">
              <a:rPr lang="en-IN" smtClean="0"/>
              <a:t>‹#›</a:t>
            </a:fld>
            <a:endParaRPr lang="en-IN"/>
          </a:p>
        </p:txBody>
      </p:sp>
    </p:spTree>
    <p:extLst>
      <p:ext uri="{BB962C8B-B14F-4D97-AF65-F5344CB8AC3E}">
        <p14:creationId xmlns:p14="http://schemas.microsoft.com/office/powerpoint/2010/main" val="4826300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D701F84-C5D5-436C-8E66-2658691C671B}" type="datetimeFigureOut">
              <a:rPr lang="en-IN" smtClean="0"/>
              <a:t>06-07-2026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E1B911-D52B-4FDC-97D4-1B12FE73E135}" type="slidenum">
              <a:rPr lang="en-IN" smtClean="0"/>
              <a:t>‹#›</a:t>
            </a:fld>
            <a:endParaRPr lang="en-IN"/>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611506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D701F84-C5D5-436C-8E66-2658691C671B}" type="datetimeFigureOut">
              <a:rPr lang="en-IN" smtClean="0"/>
              <a:t>06-07-2026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E1B911-D52B-4FDC-97D4-1B12FE73E135}" type="slidenum">
              <a:rPr lang="en-IN" smtClean="0"/>
              <a:t>‹#›</a:t>
            </a:fld>
            <a:endParaRPr lang="en-IN"/>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076438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D701F84-C5D5-436C-8E66-2658691C671B}" type="datetimeFigureOut">
              <a:rPr lang="en-IN" smtClean="0"/>
              <a:t>06-07-2026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E1B911-D52B-4FDC-97D4-1B12FE73E135}" type="slidenum">
              <a:rPr lang="en-IN" smtClean="0"/>
              <a:t>‹#›</a:t>
            </a:fld>
            <a:endParaRPr lang="en-IN"/>
          </a:p>
        </p:txBody>
      </p:sp>
    </p:spTree>
    <p:extLst>
      <p:ext uri="{BB962C8B-B14F-4D97-AF65-F5344CB8AC3E}">
        <p14:creationId xmlns:p14="http://schemas.microsoft.com/office/powerpoint/2010/main" val="60579045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D701F84-C5D5-436C-8E66-2658691C671B}" type="datetimeFigureOut">
              <a:rPr lang="en-IN" smtClean="0"/>
              <a:t>06-07-2026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E1B911-D52B-4FDC-97D4-1B12FE73E135}" type="slidenum">
              <a:rPr lang="en-IN" smtClean="0"/>
              <a:t>‹#›</a:t>
            </a:fld>
            <a:endParaRPr lang="en-IN"/>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7529045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D701F84-C5D5-436C-8E66-2658691C671B}" type="datetimeFigureOut">
              <a:rPr lang="en-IN" smtClean="0"/>
              <a:t>06-07-2026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E1B911-D52B-4FDC-97D4-1B12FE73E135}" type="slidenum">
              <a:rPr lang="en-IN" smtClean="0"/>
              <a:t>‹#›</a:t>
            </a:fld>
            <a:endParaRPr lang="en-IN"/>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149218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D701F84-C5D5-436C-8E66-2658691C671B}" type="datetimeFigureOut">
              <a:rPr lang="en-IN" smtClean="0"/>
              <a:t>06-07-2026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E1B911-D52B-4FDC-97D4-1B12FE73E135}"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48908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D701F84-C5D5-436C-8E66-2658691C671B}" type="datetimeFigureOut">
              <a:rPr lang="en-IN" smtClean="0"/>
              <a:t>06-07-2026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E1B911-D52B-4FDC-97D4-1B12FE73E135}" type="slidenum">
              <a:rPr lang="en-IN" smtClean="0"/>
              <a:t>‹#›</a:t>
            </a:fld>
            <a:endParaRPr lang="en-IN"/>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29571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6D701F84-C5D5-436C-8E66-2658691C671B}" type="datetimeFigureOut">
              <a:rPr lang="en-IN" smtClean="0"/>
              <a:t>06-07-2026</a:t>
            </a:fld>
            <a:endParaRPr lang="en-IN"/>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2E1B911-D52B-4FDC-97D4-1B12FE73E135}" type="slidenum">
              <a:rPr lang="en-IN" smtClean="0"/>
              <a:t>‹#›</a:t>
            </a:fld>
            <a:endParaRPr lang="en-IN"/>
          </a:p>
        </p:txBody>
      </p:sp>
    </p:spTree>
    <p:extLst>
      <p:ext uri="{BB962C8B-B14F-4D97-AF65-F5344CB8AC3E}">
        <p14:creationId xmlns:p14="http://schemas.microsoft.com/office/powerpoint/2010/main" val="20092697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3E56E7-BBD8-60F8-684D-77EF30620294}"/>
              </a:ext>
            </a:extLst>
          </p:cNvPr>
          <p:cNvSpPr>
            <a:spLocks noGrp="1"/>
          </p:cNvSpPr>
          <p:nvPr>
            <p:ph type="title"/>
          </p:nvPr>
        </p:nvSpPr>
        <p:spPr>
          <a:xfrm>
            <a:off x="838200" y="365125"/>
            <a:ext cx="10515600" cy="1817636"/>
          </a:xfrm>
        </p:spPr>
        <p:txBody>
          <a:bodyPr>
            <a:normAutofit fontScale="90000"/>
          </a:bodyPr>
          <a:lstStyle/>
          <a:p>
            <a:br>
              <a:rPr lang="en-IN" b="1" dirty="0"/>
            </a:br>
            <a:r>
              <a:rPr lang="en-IN" sz="4200" b="1" dirty="0">
                <a:latin typeface="Times New Roman" panose="02020603050405020304" pitchFamily="18" charset="0"/>
                <a:cs typeface="Times New Roman" panose="02020603050405020304" pitchFamily="18" charset="0"/>
              </a:rPr>
              <a:t>Password Strength Analyzer</a:t>
            </a:r>
            <a:br>
              <a:rPr lang="en-IN" sz="4200" b="1" dirty="0">
                <a:latin typeface="Times New Roman" panose="02020603050405020304" pitchFamily="18" charset="0"/>
                <a:cs typeface="Times New Roman" panose="02020603050405020304" pitchFamily="18" charset="0"/>
              </a:rPr>
            </a:br>
            <a:r>
              <a:rPr lang="en-IN" sz="4200" b="1" dirty="0">
                <a:latin typeface="Times New Roman" panose="02020603050405020304" pitchFamily="18" charset="0"/>
                <a:cs typeface="Times New Roman" panose="02020603050405020304" pitchFamily="18" charset="0"/>
              </a:rPr>
              <a:t>Ethical Hacking &amp; Cybersecurity Internship</a:t>
            </a:r>
            <a:br>
              <a:rPr lang="en-IN" dirty="0"/>
            </a:br>
            <a:endParaRPr lang="en-IN" dirty="0"/>
          </a:p>
        </p:txBody>
      </p:sp>
      <p:sp>
        <p:nvSpPr>
          <p:cNvPr id="3" name="Content Placeholder 2">
            <a:extLst>
              <a:ext uri="{FF2B5EF4-FFF2-40B4-BE49-F238E27FC236}">
                <a16:creationId xmlns:a16="http://schemas.microsoft.com/office/drawing/2014/main" id="{1D8BC9EA-51AE-2275-E221-94AE882DA3CD}"/>
              </a:ext>
            </a:extLst>
          </p:cNvPr>
          <p:cNvSpPr>
            <a:spLocks noGrp="1"/>
          </p:cNvSpPr>
          <p:nvPr>
            <p:ph idx="1"/>
          </p:nvPr>
        </p:nvSpPr>
        <p:spPr>
          <a:xfrm>
            <a:off x="739878" y="2182760"/>
            <a:ext cx="10515600" cy="4141685"/>
          </a:xfrm>
        </p:spPr>
        <p:txBody>
          <a:bodyPr/>
          <a:lstStyle/>
          <a:p>
            <a:pPr marL="0" indent="0">
              <a:buNone/>
            </a:pPr>
            <a:endParaRPr lang="en-IN" b="1" dirty="0"/>
          </a:p>
          <a:p>
            <a:pPr marL="0" indent="0">
              <a:buNone/>
            </a:pPr>
            <a:r>
              <a:rPr lang="en-IN" sz="2800" b="1" dirty="0">
                <a:latin typeface="Times New Roman" panose="02020603050405020304" pitchFamily="18" charset="0"/>
                <a:cs typeface="Times New Roman" panose="02020603050405020304" pitchFamily="18" charset="0"/>
              </a:rPr>
              <a:t>Submitted To:	VaultofCodes</a:t>
            </a:r>
          </a:p>
          <a:p>
            <a:pPr marL="0" indent="0">
              <a:buNone/>
            </a:pPr>
            <a:r>
              <a:rPr lang="en-IN" sz="2800" b="1" dirty="0">
                <a:latin typeface="Times New Roman" panose="02020603050405020304" pitchFamily="18" charset="0"/>
                <a:cs typeface="Times New Roman" panose="02020603050405020304" pitchFamily="18" charset="0"/>
              </a:rPr>
              <a:t>Submitted By:	Thonduru Premsai</a:t>
            </a:r>
          </a:p>
          <a:p>
            <a:pPr marL="0" indent="0">
              <a:buNone/>
            </a:pPr>
            <a:r>
              <a:rPr lang="en-IN" sz="2800" b="1" dirty="0">
                <a:latin typeface="Times New Roman" panose="02020603050405020304" pitchFamily="18" charset="0"/>
                <a:cs typeface="Times New Roman" panose="02020603050405020304" pitchFamily="18" charset="0"/>
              </a:rPr>
              <a:t>Technology Used:	Python</a:t>
            </a:r>
          </a:p>
          <a:p>
            <a:pPr marL="0" indent="0">
              <a:buNone/>
            </a:pPr>
            <a:r>
              <a:rPr lang="en-IN" sz="2800" b="1" dirty="0">
                <a:latin typeface="Times New Roman" panose="02020603050405020304" pitchFamily="18" charset="0"/>
                <a:cs typeface="Times New Roman" panose="02020603050405020304" pitchFamily="18" charset="0"/>
              </a:rPr>
              <a:t>College:		Akshaya College of Engineering and Technology</a:t>
            </a:r>
            <a:endParaRPr lang="en-IN" sz="2800" dirty="0">
              <a:latin typeface="Times New Roman" panose="02020603050405020304" pitchFamily="18"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24301413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281C00-F2E7-63EC-56F8-CCC13744C111}"/>
              </a:ext>
            </a:extLst>
          </p:cNvPr>
          <p:cNvSpPr>
            <a:spLocks noGrp="1"/>
          </p:cNvSpPr>
          <p:nvPr>
            <p:ph type="title"/>
          </p:nvPr>
        </p:nvSpPr>
        <p:spPr>
          <a:xfrm>
            <a:off x="838200" y="127819"/>
            <a:ext cx="10515600" cy="1562869"/>
          </a:xfrm>
        </p:spPr>
        <p:txBody>
          <a:bodyPr>
            <a:normAutofit fontScale="90000"/>
          </a:bodyPr>
          <a:lstStyle/>
          <a:p>
            <a:br>
              <a:rPr lang="en-IN" b="1" dirty="0"/>
            </a:br>
            <a:br>
              <a:rPr lang="en-IN" b="1" dirty="0"/>
            </a:br>
            <a:br>
              <a:rPr lang="en-IN" b="1" dirty="0"/>
            </a:br>
            <a:r>
              <a:rPr lang="en-IN" b="1" dirty="0">
                <a:latin typeface="Times New Roman" panose="02020603050405020304" pitchFamily="18" charset="0"/>
                <a:cs typeface="Times New Roman" panose="02020603050405020304" pitchFamily="18" charset="0"/>
              </a:rPr>
              <a:t>SLIDE 2 – INTRODUCTION</a:t>
            </a:r>
            <a:br>
              <a:rPr lang="en-IN" b="1" dirty="0">
                <a:latin typeface="Times New Roman" panose="02020603050405020304" pitchFamily="18" charset="0"/>
                <a:cs typeface="Times New Roman" panose="02020603050405020304" pitchFamily="18" charset="0"/>
              </a:rPr>
            </a:br>
            <a:r>
              <a:rPr lang="en-IN" b="1" dirty="0" err="1">
                <a:latin typeface="Times New Roman" panose="02020603050405020304" pitchFamily="18" charset="0"/>
                <a:cs typeface="Times New Roman" panose="02020603050405020304" pitchFamily="18" charset="0"/>
              </a:rPr>
              <a:t>Introduction</a:t>
            </a:r>
            <a:br>
              <a:rPr lang="en-IN" b="1" dirty="0"/>
            </a:br>
            <a:endParaRPr lang="en-IN" dirty="0"/>
          </a:p>
        </p:txBody>
      </p:sp>
      <p:sp>
        <p:nvSpPr>
          <p:cNvPr id="3" name="Content Placeholder 2">
            <a:extLst>
              <a:ext uri="{FF2B5EF4-FFF2-40B4-BE49-F238E27FC236}">
                <a16:creationId xmlns:a16="http://schemas.microsoft.com/office/drawing/2014/main" id="{1122E2A0-F08D-25C2-2C13-CD2979ABB0C8}"/>
              </a:ext>
            </a:extLst>
          </p:cNvPr>
          <p:cNvSpPr>
            <a:spLocks noGrp="1"/>
          </p:cNvSpPr>
          <p:nvPr>
            <p:ph idx="1"/>
          </p:nvPr>
        </p:nvSpPr>
        <p:spPr/>
        <p:txBody>
          <a:bodyPr>
            <a:normAutofit fontScale="55000" lnSpcReduction="20000"/>
          </a:bodyPr>
          <a:lstStyle/>
          <a:p>
            <a:r>
              <a:rPr lang="en-IN" sz="4500" b="1" dirty="0">
                <a:latin typeface="Times New Roman" panose="02020603050405020304" pitchFamily="18" charset="0"/>
                <a:cs typeface="Times New Roman" panose="02020603050405020304" pitchFamily="18" charset="0"/>
              </a:rPr>
              <a:t>Password Security</a:t>
            </a:r>
          </a:p>
          <a:p>
            <a:r>
              <a:rPr lang="en-IN" sz="4500" dirty="0">
                <a:latin typeface="Times New Roman" panose="02020603050405020304" pitchFamily="18" charset="0"/>
                <a:cs typeface="Times New Roman" panose="02020603050405020304" pitchFamily="18" charset="0"/>
              </a:rPr>
              <a:t>Passwords are the first line of </a:t>
            </a:r>
            <a:r>
              <a:rPr lang="en-IN" sz="4500" dirty="0" err="1">
                <a:latin typeface="Times New Roman" panose="02020603050405020304" pitchFamily="18" charset="0"/>
                <a:cs typeface="Times New Roman" panose="02020603050405020304" pitchFamily="18" charset="0"/>
              </a:rPr>
              <a:t>defense</a:t>
            </a:r>
            <a:r>
              <a:rPr lang="en-IN" sz="4500" dirty="0">
                <a:latin typeface="Times New Roman" panose="02020603050405020304" pitchFamily="18" charset="0"/>
                <a:cs typeface="Times New Roman" panose="02020603050405020304" pitchFamily="18" charset="0"/>
              </a:rPr>
              <a:t> for protecting personal and organizational data. Weak passwords are one of the leading causes of unauthorized access and cyberattacks. Creating strong passwords helps prevent brute-force attacks, dictionary attacks, and credential theft.</a:t>
            </a:r>
          </a:p>
          <a:p>
            <a:r>
              <a:rPr lang="en-IN" sz="4500" dirty="0">
                <a:latin typeface="Times New Roman" panose="02020603050405020304" pitchFamily="18" charset="0"/>
                <a:cs typeface="Times New Roman" panose="02020603050405020304" pitchFamily="18" charset="0"/>
              </a:rPr>
              <a:t>The </a:t>
            </a:r>
            <a:r>
              <a:rPr lang="en-IN" sz="4500" b="1" dirty="0">
                <a:latin typeface="Times New Roman" panose="02020603050405020304" pitchFamily="18" charset="0"/>
                <a:cs typeface="Times New Roman" panose="02020603050405020304" pitchFamily="18" charset="0"/>
              </a:rPr>
              <a:t>Password Strength Analyzer</a:t>
            </a:r>
            <a:r>
              <a:rPr lang="en-IN" sz="4500" dirty="0">
                <a:latin typeface="Times New Roman" panose="02020603050405020304" pitchFamily="18" charset="0"/>
                <a:cs typeface="Times New Roman" panose="02020603050405020304" pitchFamily="18" charset="0"/>
              </a:rPr>
              <a:t> evaluates passwords based on multiple security rules and provides suggestions to help users create stronger and more secure passwords.</a:t>
            </a:r>
          </a:p>
          <a:p>
            <a:pPr marL="0" indent="0">
              <a:buNone/>
            </a:pPr>
            <a:endParaRPr lang="en-IN" dirty="0"/>
          </a:p>
        </p:txBody>
      </p:sp>
    </p:spTree>
    <p:extLst>
      <p:ext uri="{BB962C8B-B14F-4D97-AF65-F5344CB8AC3E}">
        <p14:creationId xmlns:p14="http://schemas.microsoft.com/office/powerpoint/2010/main" val="1527027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E6138C-F314-8E2C-8C03-B5B608E94685}"/>
              </a:ext>
            </a:extLst>
          </p:cNvPr>
          <p:cNvSpPr>
            <a:spLocks noGrp="1"/>
          </p:cNvSpPr>
          <p:nvPr>
            <p:ph type="title"/>
          </p:nvPr>
        </p:nvSpPr>
        <p:spPr/>
        <p:txBody>
          <a:bodyPr>
            <a:normAutofit fontScale="90000"/>
          </a:bodyPr>
          <a:lstStyle/>
          <a:p>
            <a:br>
              <a:rPr lang="en-IN" b="1" dirty="0">
                <a:latin typeface="Times New Roman" panose="02020603050405020304" pitchFamily="18" charset="0"/>
                <a:cs typeface="Times New Roman" panose="02020603050405020304" pitchFamily="18" charset="0"/>
              </a:rPr>
            </a:br>
            <a:br>
              <a:rPr lang="en-IN" b="1"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SLIDE 3 – PROBLEM STATEMENT</a:t>
            </a:r>
            <a:br>
              <a:rPr lang="en-IN" b="1" dirty="0">
                <a:latin typeface="Times New Roman" panose="02020603050405020304" pitchFamily="18" charset="0"/>
                <a:cs typeface="Times New Roman" panose="02020603050405020304" pitchFamily="18" charset="0"/>
              </a:rPr>
            </a:br>
            <a:br>
              <a:rPr lang="en-IN" b="1"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9B91FAA-E35F-6606-2DFE-C1EEA3A2A8A2}"/>
              </a:ext>
            </a:extLst>
          </p:cNvPr>
          <p:cNvSpPr>
            <a:spLocks noGrp="1"/>
          </p:cNvSpPr>
          <p:nvPr>
            <p:ph idx="1"/>
          </p:nvPr>
        </p:nvSpPr>
        <p:spPr>
          <a:xfrm>
            <a:off x="1295401" y="2408903"/>
            <a:ext cx="9601196" cy="3775587"/>
          </a:xfrm>
        </p:spPr>
        <p:txBody>
          <a:bodyPr>
            <a:normAutofit fontScale="40000" lnSpcReduction="20000"/>
          </a:bodyPr>
          <a:lstStyle/>
          <a:p>
            <a:r>
              <a:rPr lang="en-IN" sz="5300" dirty="0">
                <a:latin typeface="Times New Roman" panose="02020603050405020304" pitchFamily="18" charset="0"/>
                <a:cs typeface="Times New Roman" panose="02020603050405020304" pitchFamily="18" charset="0"/>
              </a:rPr>
              <a:t>Many users create passwords that are:</a:t>
            </a:r>
          </a:p>
          <a:p>
            <a:r>
              <a:rPr lang="en-IN" sz="5300" dirty="0">
                <a:latin typeface="Times New Roman" panose="02020603050405020304" pitchFamily="18" charset="0"/>
                <a:cs typeface="Times New Roman" panose="02020603050405020304" pitchFamily="18" charset="0"/>
              </a:rPr>
              <a:t>Too short </a:t>
            </a:r>
          </a:p>
          <a:p>
            <a:r>
              <a:rPr lang="en-IN" sz="5300" dirty="0">
                <a:latin typeface="Times New Roman" panose="02020603050405020304" pitchFamily="18" charset="0"/>
                <a:cs typeface="Times New Roman" panose="02020603050405020304" pitchFamily="18" charset="0"/>
              </a:rPr>
              <a:t>Easy to guess </a:t>
            </a:r>
          </a:p>
          <a:p>
            <a:r>
              <a:rPr lang="en-IN" sz="5300" dirty="0">
                <a:latin typeface="Times New Roman" panose="02020603050405020304" pitchFamily="18" charset="0"/>
                <a:cs typeface="Times New Roman" panose="02020603050405020304" pitchFamily="18" charset="0"/>
              </a:rPr>
              <a:t>Based on common words </a:t>
            </a:r>
          </a:p>
          <a:p>
            <a:r>
              <a:rPr lang="en-IN" sz="5300" dirty="0">
                <a:latin typeface="Times New Roman" panose="02020603050405020304" pitchFamily="18" charset="0"/>
                <a:cs typeface="Times New Roman" panose="02020603050405020304" pitchFamily="18" charset="0"/>
              </a:rPr>
              <a:t>Missing special characters </a:t>
            </a:r>
          </a:p>
          <a:p>
            <a:r>
              <a:rPr lang="en-IN" sz="5300" dirty="0">
                <a:latin typeface="Times New Roman" panose="02020603050405020304" pitchFamily="18" charset="0"/>
                <a:cs typeface="Times New Roman" panose="02020603050405020304" pitchFamily="18" charset="0"/>
              </a:rPr>
              <a:t>Vulnerable to cyberattacks </a:t>
            </a:r>
          </a:p>
          <a:p>
            <a:r>
              <a:rPr lang="en-IN" sz="5300" b="1" dirty="0">
                <a:latin typeface="Times New Roman" panose="02020603050405020304" pitchFamily="18" charset="0"/>
                <a:cs typeface="Times New Roman" panose="02020603050405020304" pitchFamily="18" charset="0"/>
              </a:rPr>
              <a:t>Proposed Solution</a:t>
            </a:r>
          </a:p>
          <a:p>
            <a:r>
              <a:rPr lang="en-IN" sz="5300" dirty="0">
                <a:latin typeface="Times New Roman" panose="02020603050405020304" pitchFamily="18" charset="0"/>
                <a:cs typeface="Times New Roman" panose="02020603050405020304" pitchFamily="18" charset="0"/>
              </a:rPr>
              <a:t>Develop a Python-based Password Strength Analyzer that evaluates password strength and provides recommendations for improvement.</a:t>
            </a:r>
          </a:p>
          <a:p>
            <a:pPr marL="0" indent="0">
              <a:buNone/>
            </a:pPr>
            <a:endParaRPr lang="en-IN" dirty="0"/>
          </a:p>
        </p:txBody>
      </p:sp>
    </p:spTree>
    <p:extLst>
      <p:ext uri="{BB962C8B-B14F-4D97-AF65-F5344CB8AC3E}">
        <p14:creationId xmlns:p14="http://schemas.microsoft.com/office/powerpoint/2010/main" val="35270028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74F81-F05E-0ADF-C359-CE9B58DF7495}"/>
              </a:ext>
            </a:extLst>
          </p:cNvPr>
          <p:cNvSpPr>
            <a:spLocks noGrp="1"/>
          </p:cNvSpPr>
          <p:nvPr>
            <p:ph type="title"/>
          </p:nvPr>
        </p:nvSpPr>
        <p:spPr>
          <a:xfrm>
            <a:off x="1295402" y="982133"/>
            <a:ext cx="9601196" cy="1003984"/>
          </a:xfrm>
        </p:spPr>
        <p:txBody>
          <a:bodyPr>
            <a:normAutofit/>
          </a:bodyPr>
          <a:lstStyle/>
          <a:p>
            <a:r>
              <a:rPr lang="en-IN" sz="4000" dirty="0">
                <a:latin typeface="Times New Roman" panose="02020603050405020304" pitchFamily="18" charset="0"/>
                <a:cs typeface="Times New Roman" panose="02020603050405020304" pitchFamily="18" charset="0"/>
              </a:rPr>
              <a:t>SLIDE 4 – OBJECTIVES</a:t>
            </a:r>
          </a:p>
        </p:txBody>
      </p:sp>
      <p:sp>
        <p:nvSpPr>
          <p:cNvPr id="3" name="Content Placeholder 2">
            <a:extLst>
              <a:ext uri="{FF2B5EF4-FFF2-40B4-BE49-F238E27FC236}">
                <a16:creationId xmlns:a16="http://schemas.microsoft.com/office/drawing/2014/main" id="{E7251C02-99A6-6185-1903-9EF5B298EC12}"/>
              </a:ext>
            </a:extLst>
          </p:cNvPr>
          <p:cNvSpPr>
            <a:spLocks noGrp="1"/>
          </p:cNvSpPr>
          <p:nvPr>
            <p:ph idx="1"/>
          </p:nvPr>
        </p:nvSpPr>
        <p:spPr>
          <a:xfrm>
            <a:off x="1295401" y="2359743"/>
            <a:ext cx="9601196" cy="3716592"/>
          </a:xfrm>
        </p:spPr>
        <p:txBody>
          <a:bodyPr>
            <a:noAutofit/>
          </a:bodyPr>
          <a:lstStyle/>
          <a:p>
            <a:r>
              <a:rPr lang="en-IN" sz="2500" dirty="0" err="1">
                <a:latin typeface="Times New Roman" panose="02020603050405020304" pitchFamily="18" charset="0"/>
                <a:cs typeface="Times New Roman" panose="02020603050405020304" pitchFamily="18" charset="0"/>
              </a:rPr>
              <a:t>Analyze</a:t>
            </a:r>
            <a:r>
              <a:rPr lang="en-IN" sz="2500" dirty="0">
                <a:latin typeface="Times New Roman" panose="02020603050405020304" pitchFamily="18" charset="0"/>
                <a:cs typeface="Times New Roman" panose="02020603050405020304" pitchFamily="18" charset="0"/>
              </a:rPr>
              <a:t> password strength. </a:t>
            </a:r>
          </a:p>
          <a:p>
            <a:r>
              <a:rPr lang="en-IN" sz="2500" dirty="0">
                <a:latin typeface="Times New Roman" panose="02020603050405020304" pitchFamily="18" charset="0"/>
                <a:cs typeface="Times New Roman" panose="02020603050405020304" pitchFamily="18" charset="0"/>
              </a:rPr>
              <a:t>Detect weak passwords. </a:t>
            </a:r>
          </a:p>
          <a:p>
            <a:r>
              <a:rPr lang="en-IN" sz="2500" dirty="0">
                <a:latin typeface="Times New Roman" panose="02020603050405020304" pitchFamily="18" charset="0"/>
                <a:cs typeface="Times New Roman" panose="02020603050405020304" pitchFamily="18" charset="0"/>
              </a:rPr>
              <a:t>Validate password length.</a:t>
            </a:r>
          </a:p>
          <a:p>
            <a:r>
              <a:rPr lang="en-IN" sz="2500" dirty="0">
                <a:latin typeface="Times New Roman" panose="02020603050405020304" pitchFamily="18" charset="0"/>
                <a:cs typeface="Times New Roman" panose="02020603050405020304" pitchFamily="18" charset="0"/>
              </a:rPr>
              <a:t>Check uppercase and lowercase letters. </a:t>
            </a:r>
          </a:p>
          <a:p>
            <a:r>
              <a:rPr lang="en-IN" sz="2500" dirty="0">
                <a:latin typeface="Times New Roman" panose="02020603050405020304" pitchFamily="18" charset="0"/>
                <a:cs typeface="Times New Roman" panose="02020603050405020304" pitchFamily="18" charset="0"/>
              </a:rPr>
              <a:t>Verify numeric digits. </a:t>
            </a:r>
          </a:p>
          <a:p>
            <a:r>
              <a:rPr lang="en-IN" sz="2500" dirty="0">
                <a:latin typeface="Times New Roman" panose="02020603050405020304" pitchFamily="18" charset="0"/>
                <a:cs typeface="Times New Roman" panose="02020603050405020304" pitchFamily="18" charset="0"/>
              </a:rPr>
              <a:t>Detect special characters. </a:t>
            </a:r>
          </a:p>
          <a:p>
            <a:r>
              <a:rPr lang="en-IN" sz="2500" dirty="0">
                <a:latin typeface="Times New Roman" panose="02020603050405020304" pitchFamily="18" charset="0"/>
                <a:cs typeface="Times New Roman" panose="02020603050405020304" pitchFamily="18" charset="0"/>
              </a:rPr>
              <a:t>Identify sequential patterns.</a:t>
            </a:r>
          </a:p>
          <a:p>
            <a:pPr marL="0" indent="0">
              <a:buNone/>
            </a:pPr>
            <a:r>
              <a:rPr lang="en-IN" sz="2500" dirty="0"/>
              <a:t>.</a:t>
            </a:r>
          </a:p>
        </p:txBody>
      </p:sp>
    </p:spTree>
    <p:extLst>
      <p:ext uri="{BB962C8B-B14F-4D97-AF65-F5344CB8AC3E}">
        <p14:creationId xmlns:p14="http://schemas.microsoft.com/office/powerpoint/2010/main" val="39013398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17044B-12BA-C164-4E2A-B95BE61B278A}"/>
              </a:ext>
            </a:extLst>
          </p:cNvPr>
          <p:cNvSpPr>
            <a:spLocks noGrp="1"/>
          </p:cNvSpPr>
          <p:nvPr>
            <p:ph type="title"/>
          </p:nvPr>
        </p:nvSpPr>
        <p:spPr>
          <a:xfrm>
            <a:off x="1295402" y="982133"/>
            <a:ext cx="9601196" cy="1013816"/>
          </a:xfrm>
        </p:spPr>
        <p:txBody>
          <a:bodyPr>
            <a:normAutofit fontScale="90000"/>
          </a:bodyPr>
          <a:lstStyle/>
          <a:p>
            <a:br>
              <a:rPr lang="en-IN" b="1"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SLIDE 5 – TECHNOLOGIES USED</a:t>
            </a:r>
            <a:br>
              <a:rPr lang="en-IN" b="1" dirty="0">
                <a:latin typeface="Times New Roman" panose="02020603050405020304" pitchFamily="18" charset="0"/>
                <a:cs typeface="Times New Roman" panose="02020603050405020304" pitchFamily="18" charset="0"/>
              </a:rPr>
            </a:br>
            <a:br>
              <a:rPr lang="en-IN" b="1"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graphicFrame>
        <p:nvGraphicFramePr>
          <p:cNvPr id="4" name="Content Placeholder 3">
            <a:extLst>
              <a:ext uri="{FF2B5EF4-FFF2-40B4-BE49-F238E27FC236}">
                <a16:creationId xmlns:a16="http://schemas.microsoft.com/office/drawing/2014/main" id="{C66B43E3-3972-91A3-AC9C-C53EAA0A2C66}"/>
              </a:ext>
            </a:extLst>
          </p:cNvPr>
          <p:cNvGraphicFramePr>
            <a:graphicFrameLocks noGrp="1"/>
          </p:cNvGraphicFramePr>
          <p:nvPr>
            <p:ph idx="1"/>
            <p:extLst>
              <p:ext uri="{D42A27DB-BD31-4B8C-83A1-F6EECF244321}">
                <p14:modId xmlns:p14="http://schemas.microsoft.com/office/powerpoint/2010/main" val="1350028876"/>
              </p:ext>
            </p:extLst>
          </p:nvPr>
        </p:nvGraphicFramePr>
        <p:xfrm>
          <a:off x="838200" y="2904013"/>
          <a:ext cx="10262419" cy="2743200"/>
        </p:xfrm>
        <a:graphic>
          <a:graphicData uri="http://schemas.openxmlformats.org/drawingml/2006/table">
            <a:tbl>
              <a:tblPr>
                <a:tableStyleId>{3C2FFA5D-87B4-456A-9821-1D502468CF0F}</a:tableStyleId>
              </a:tblPr>
              <a:tblGrid>
                <a:gridCol w="2772857">
                  <a:extLst>
                    <a:ext uri="{9D8B030D-6E8A-4147-A177-3AD203B41FA5}">
                      <a16:colId xmlns:a16="http://schemas.microsoft.com/office/drawing/2014/main" val="1445929013"/>
                    </a:ext>
                  </a:extLst>
                </a:gridCol>
                <a:gridCol w="7489562">
                  <a:extLst>
                    <a:ext uri="{9D8B030D-6E8A-4147-A177-3AD203B41FA5}">
                      <a16:colId xmlns:a16="http://schemas.microsoft.com/office/drawing/2014/main" val="2089713910"/>
                    </a:ext>
                  </a:extLst>
                </a:gridCol>
              </a:tblGrid>
              <a:tr h="448424">
                <a:tc>
                  <a:txBody>
                    <a:bodyPr/>
                    <a:lstStyle/>
                    <a:p>
                      <a:pPr>
                        <a:buNone/>
                      </a:pPr>
                      <a:r>
                        <a:rPr lang="en-IN" sz="2400" dirty="0">
                          <a:latin typeface="Times New Roman" panose="02020603050405020304" pitchFamily="18" charset="0"/>
                          <a:cs typeface="Times New Roman" panose="02020603050405020304" pitchFamily="18" charset="0"/>
                        </a:rPr>
                        <a:t>Technology</a:t>
                      </a:r>
                    </a:p>
                  </a:txBody>
                  <a:tcPr anchor="ctr"/>
                </a:tc>
                <a:tc>
                  <a:txBody>
                    <a:bodyPr/>
                    <a:lstStyle/>
                    <a:p>
                      <a:pPr>
                        <a:buNone/>
                      </a:pPr>
                      <a:r>
                        <a:rPr lang="en-IN" sz="2400">
                          <a:latin typeface="Times New Roman" panose="02020603050405020304" pitchFamily="18" charset="0"/>
                          <a:cs typeface="Times New Roman" panose="02020603050405020304" pitchFamily="18" charset="0"/>
                        </a:rPr>
                        <a:t>Purpose</a:t>
                      </a:r>
                    </a:p>
                  </a:txBody>
                  <a:tcPr anchor="ctr"/>
                </a:tc>
                <a:extLst>
                  <a:ext uri="{0D108BD9-81ED-4DB2-BD59-A6C34878D82A}">
                    <a16:rowId xmlns:a16="http://schemas.microsoft.com/office/drawing/2014/main" val="243338567"/>
                  </a:ext>
                </a:extLst>
              </a:tr>
              <a:tr h="448424">
                <a:tc>
                  <a:txBody>
                    <a:bodyPr/>
                    <a:lstStyle/>
                    <a:p>
                      <a:pPr>
                        <a:buNone/>
                      </a:pPr>
                      <a:r>
                        <a:rPr lang="en-IN" sz="2400" dirty="0">
                          <a:latin typeface="Times New Roman" panose="02020603050405020304" pitchFamily="18" charset="0"/>
                          <a:cs typeface="Times New Roman" panose="02020603050405020304" pitchFamily="18" charset="0"/>
                        </a:rPr>
                        <a:t>Python</a:t>
                      </a:r>
                    </a:p>
                  </a:txBody>
                  <a:tcPr anchor="ctr"/>
                </a:tc>
                <a:tc>
                  <a:txBody>
                    <a:bodyPr/>
                    <a:lstStyle/>
                    <a:p>
                      <a:pPr>
                        <a:buNone/>
                      </a:pPr>
                      <a:r>
                        <a:rPr lang="en-IN" sz="2400">
                          <a:latin typeface="Times New Roman" panose="02020603050405020304" pitchFamily="18" charset="0"/>
                          <a:cs typeface="Times New Roman" panose="02020603050405020304" pitchFamily="18" charset="0"/>
                        </a:rPr>
                        <a:t>Programming Language</a:t>
                      </a:r>
                    </a:p>
                  </a:txBody>
                  <a:tcPr anchor="ctr"/>
                </a:tc>
                <a:extLst>
                  <a:ext uri="{0D108BD9-81ED-4DB2-BD59-A6C34878D82A}">
                    <a16:rowId xmlns:a16="http://schemas.microsoft.com/office/drawing/2014/main" val="1803545229"/>
                  </a:ext>
                </a:extLst>
              </a:tr>
              <a:tr h="448424">
                <a:tc>
                  <a:txBody>
                    <a:bodyPr/>
                    <a:lstStyle/>
                    <a:p>
                      <a:pPr>
                        <a:buNone/>
                      </a:pPr>
                      <a:r>
                        <a:rPr lang="en-IN" sz="2400" dirty="0">
                          <a:latin typeface="Times New Roman" panose="02020603050405020304" pitchFamily="18" charset="0"/>
                          <a:cs typeface="Times New Roman" panose="02020603050405020304" pitchFamily="18" charset="0"/>
                        </a:rPr>
                        <a:t>Visual Studio Code</a:t>
                      </a:r>
                    </a:p>
                  </a:txBody>
                  <a:tcPr anchor="ctr"/>
                </a:tc>
                <a:tc>
                  <a:txBody>
                    <a:bodyPr/>
                    <a:lstStyle/>
                    <a:p>
                      <a:pPr>
                        <a:buNone/>
                      </a:pPr>
                      <a:r>
                        <a:rPr lang="en-IN" sz="2400">
                          <a:latin typeface="Times New Roman" panose="02020603050405020304" pitchFamily="18" charset="0"/>
                          <a:cs typeface="Times New Roman" panose="02020603050405020304" pitchFamily="18" charset="0"/>
                        </a:rPr>
                        <a:t>Code Development</a:t>
                      </a:r>
                    </a:p>
                  </a:txBody>
                  <a:tcPr anchor="ctr"/>
                </a:tc>
                <a:extLst>
                  <a:ext uri="{0D108BD9-81ED-4DB2-BD59-A6C34878D82A}">
                    <a16:rowId xmlns:a16="http://schemas.microsoft.com/office/drawing/2014/main" val="143486668"/>
                  </a:ext>
                </a:extLst>
              </a:tr>
              <a:tr h="448424">
                <a:tc>
                  <a:txBody>
                    <a:bodyPr/>
                    <a:lstStyle/>
                    <a:p>
                      <a:pPr>
                        <a:buNone/>
                      </a:pPr>
                      <a:r>
                        <a:rPr lang="en-IN" sz="2400">
                          <a:latin typeface="Times New Roman" panose="02020603050405020304" pitchFamily="18" charset="0"/>
                          <a:cs typeface="Times New Roman" panose="02020603050405020304" pitchFamily="18" charset="0"/>
                        </a:rPr>
                        <a:t>GitHub</a:t>
                      </a:r>
                    </a:p>
                  </a:txBody>
                  <a:tcPr anchor="ctr"/>
                </a:tc>
                <a:tc>
                  <a:txBody>
                    <a:bodyPr/>
                    <a:lstStyle/>
                    <a:p>
                      <a:pPr>
                        <a:buNone/>
                      </a:pPr>
                      <a:r>
                        <a:rPr lang="en-IN" sz="2400" dirty="0">
                          <a:latin typeface="Times New Roman" panose="02020603050405020304" pitchFamily="18" charset="0"/>
                          <a:cs typeface="Times New Roman" panose="02020603050405020304" pitchFamily="18" charset="0"/>
                        </a:rPr>
                        <a:t>Version Control</a:t>
                      </a:r>
                    </a:p>
                  </a:txBody>
                  <a:tcPr anchor="ctr"/>
                </a:tc>
                <a:extLst>
                  <a:ext uri="{0D108BD9-81ED-4DB2-BD59-A6C34878D82A}">
                    <a16:rowId xmlns:a16="http://schemas.microsoft.com/office/drawing/2014/main" val="2470532766"/>
                  </a:ext>
                </a:extLst>
              </a:tr>
              <a:tr h="448424">
                <a:tc>
                  <a:txBody>
                    <a:bodyPr/>
                    <a:lstStyle/>
                    <a:p>
                      <a:pPr>
                        <a:buNone/>
                      </a:pPr>
                      <a:r>
                        <a:rPr lang="en-IN" sz="2400">
                          <a:latin typeface="Times New Roman" panose="02020603050405020304" pitchFamily="18" charset="0"/>
                          <a:cs typeface="Times New Roman" panose="02020603050405020304" pitchFamily="18" charset="0"/>
                        </a:rPr>
                        <a:t>Microsoft Word</a:t>
                      </a:r>
                    </a:p>
                  </a:txBody>
                  <a:tcPr anchor="ctr"/>
                </a:tc>
                <a:tc>
                  <a:txBody>
                    <a:bodyPr/>
                    <a:lstStyle/>
                    <a:p>
                      <a:pPr>
                        <a:buNone/>
                      </a:pPr>
                      <a:r>
                        <a:rPr lang="en-IN" sz="2400" dirty="0">
                          <a:latin typeface="Times New Roman" panose="02020603050405020304" pitchFamily="18" charset="0"/>
                          <a:cs typeface="Times New Roman" panose="02020603050405020304" pitchFamily="18" charset="0"/>
                        </a:rPr>
                        <a:t>Report Preparation</a:t>
                      </a:r>
                    </a:p>
                  </a:txBody>
                  <a:tcPr anchor="ctr"/>
                </a:tc>
                <a:extLst>
                  <a:ext uri="{0D108BD9-81ED-4DB2-BD59-A6C34878D82A}">
                    <a16:rowId xmlns:a16="http://schemas.microsoft.com/office/drawing/2014/main" val="3618252628"/>
                  </a:ext>
                </a:extLst>
              </a:tr>
              <a:tr h="448424">
                <a:tc>
                  <a:txBody>
                    <a:bodyPr/>
                    <a:lstStyle/>
                    <a:p>
                      <a:pPr>
                        <a:buNone/>
                      </a:pPr>
                      <a:r>
                        <a:rPr lang="en-IN" sz="2400">
                          <a:latin typeface="Times New Roman" panose="02020603050405020304" pitchFamily="18" charset="0"/>
                          <a:cs typeface="Times New Roman" panose="02020603050405020304" pitchFamily="18" charset="0"/>
                        </a:rPr>
                        <a:t>Windows OS</a:t>
                      </a:r>
                    </a:p>
                  </a:txBody>
                  <a:tcPr anchor="ctr"/>
                </a:tc>
                <a:tc>
                  <a:txBody>
                    <a:bodyPr/>
                    <a:lstStyle/>
                    <a:p>
                      <a:pPr>
                        <a:buNone/>
                      </a:pPr>
                      <a:r>
                        <a:rPr lang="en-IN" sz="2400" dirty="0">
                          <a:latin typeface="Times New Roman" panose="02020603050405020304" pitchFamily="18" charset="0"/>
                          <a:cs typeface="Times New Roman" panose="02020603050405020304" pitchFamily="18" charset="0"/>
                        </a:rPr>
                        <a:t>Development Platform</a:t>
                      </a:r>
                    </a:p>
                  </a:txBody>
                  <a:tcPr anchor="ctr"/>
                </a:tc>
                <a:extLst>
                  <a:ext uri="{0D108BD9-81ED-4DB2-BD59-A6C34878D82A}">
                    <a16:rowId xmlns:a16="http://schemas.microsoft.com/office/drawing/2014/main" val="3482524796"/>
                  </a:ext>
                </a:extLst>
              </a:tr>
            </a:tbl>
          </a:graphicData>
        </a:graphic>
      </p:graphicFrame>
    </p:spTree>
    <p:extLst>
      <p:ext uri="{BB962C8B-B14F-4D97-AF65-F5344CB8AC3E}">
        <p14:creationId xmlns:p14="http://schemas.microsoft.com/office/powerpoint/2010/main" val="19133086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378A3-DD32-9974-8CCE-C58269D99F75}"/>
              </a:ext>
            </a:extLst>
          </p:cNvPr>
          <p:cNvSpPr>
            <a:spLocks noGrp="1"/>
          </p:cNvSpPr>
          <p:nvPr>
            <p:ph type="title"/>
          </p:nvPr>
        </p:nvSpPr>
        <p:spPr/>
        <p:txBody>
          <a:bodyPr>
            <a:normAutofit fontScale="90000"/>
          </a:bodyPr>
          <a:lstStyle/>
          <a:p>
            <a:br>
              <a:rPr lang="en-IN" b="1"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SLIDE 6 – PROJECT WORKFLOW</a:t>
            </a:r>
            <a:br>
              <a:rPr lang="en-IN" b="1" dirty="0">
                <a:latin typeface="Times New Roman" panose="02020603050405020304" pitchFamily="18" charset="0"/>
                <a:cs typeface="Times New Roman" panose="02020603050405020304" pitchFamily="18" charset="0"/>
              </a:rPr>
            </a:br>
            <a:br>
              <a:rPr lang="en-IN" b="1"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67635AE-7E63-E9BE-8AD1-43490DF48D0B}"/>
              </a:ext>
            </a:extLst>
          </p:cNvPr>
          <p:cNvSpPr>
            <a:spLocks noGrp="1"/>
          </p:cNvSpPr>
          <p:nvPr>
            <p:ph idx="1"/>
          </p:nvPr>
        </p:nvSpPr>
        <p:spPr>
          <a:xfrm>
            <a:off x="1295401" y="2285999"/>
            <a:ext cx="9601196" cy="4419601"/>
          </a:xfrm>
        </p:spPr>
        <p:txBody>
          <a:bodyPr>
            <a:noAutofit/>
          </a:bodyPr>
          <a:lstStyle/>
          <a:p>
            <a:pPr marL="0" indent="0">
              <a:buNone/>
            </a:pPr>
            <a:r>
              <a:rPr lang="en-IN" sz="2300" b="1" dirty="0">
                <a:latin typeface="Times New Roman" panose="02020603050405020304" pitchFamily="18" charset="0"/>
                <a:cs typeface="Times New Roman" panose="02020603050405020304" pitchFamily="18" charset="0"/>
              </a:rPr>
              <a:t>Workflow Steps</a:t>
            </a:r>
          </a:p>
          <a:p>
            <a:r>
              <a:rPr lang="en-IN" sz="2300" dirty="0">
                <a:latin typeface="Times New Roman" panose="02020603050405020304" pitchFamily="18" charset="0"/>
                <a:cs typeface="Times New Roman" panose="02020603050405020304" pitchFamily="18" charset="0"/>
              </a:rPr>
              <a:t>Start Application </a:t>
            </a:r>
          </a:p>
          <a:p>
            <a:r>
              <a:rPr lang="en-IN" sz="2300" dirty="0">
                <a:latin typeface="Times New Roman" panose="02020603050405020304" pitchFamily="18" charset="0"/>
                <a:cs typeface="Times New Roman" panose="02020603050405020304" pitchFamily="18" charset="0"/>
              </a:rPr>
              <a:t>Enter Password </a:t>
            </a:r>
          </a:p>
          <a:p>
            <a:r>
              <a:rPr lang="en-IN" sz="2300" dirty="0">
                <a:latin typeface="Times New Roman" panose="02020603050405020304" pitchFamily="18" charset="0"/>
                <a:cs typeface="Times New Roman" panose="02020603050405020304" pitchFamily="18" charset="0"/>
              </a:rPr>
              <a:t>Perform Security Checks </a:t>
            </a:r>
          </a:p>
          <a:p>
            <a:r>
              <a:rPr lang="en-IN" sz="2300" dirty="0">
                <a:latin typeface="Times New Roman" panose="02020603050405020304" pitchFamily="18" charset="0"/>
                <a:cs typeface="Times New Roman" panose="02020603050405020304" pitchFamily="18" charset="0"/>
              </a:rPr>
              <a:t>Calculate Password Score </a:t>
            </a:r>
          </a:p>
          <a:p>
            <a:r>
              <a:rPr lang="en-IN" sz="2300" dirty="0">
                <a:latin typeface="Times New Roman" panose="02020603050405020304" pitchFamily="18" charset="0"/>
                <a:cs typeface="Times New Roman" panose="02020603050405020304" pitchFamily="18" charset="0"/>
              </a:rPr>
              <a:t>Determine Password Strength </a:t>
            </a:r>
          </a:p>
          <a:p>
            <a:r>
              <a:rPr lang="en-IN" sz="2300" dirty="0">
                <a:latin typeface="Times New Roman" panose="02020603050405020304" pitchFamily="18" charset="0"/>
                <a:cs typeface="Times New Roman" panose="02020603050405020304" pitchFamily="18" charset="0"/>
              </a:rPr>
              <a:t>Display Suggestions </a:t>
            </a:r>
          </a:p>
          <a:p>
            <a:r>
              <a:rPr lang="en-IN" sz="2300" dirty="0">
                <a:latin typeface="Times New Roman" panose="02020603050405020304" pitchFamily="18" charset="0"/>
                <a:cs typeface="Times New Roman" panose="02020603050405020304" pitchFamily="18" charset="0"/>
              </a:rPr>
              <a:t>End </a:t>
            </a:r>
          </a:p>
          <a:p>
            <a:pPr marL="0" indent="0">
              <a:buNone/>
            </a:pPr>
            <a:endParaRPr lang="en-IN" sz="2500" dirty="0"/>
          </a:p>
        </p:txBody>
      </p:sp>
    </p:spTree>
    <p:extLst>
      <p:ext uri="{BB962C8B-B14F-4D97-AF65-F5344CB8AC3E}">
        <p14:creationId xmlns:p14="http://schemas.microsoft.com/office/powerpoint/2010/main" val="5698831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5D6EE-3F06-D8B2-7D68-AB31E736C09B}"/>
              </a:ext>
            </a:extLst>
          </p:cNvPr>
          <p:cNvSpPr>
            <a:spLocks noGrp="1"/>
          </p:cNvSpPr>
          <p:nvPr>
            <p:ph type="title"/>
          </p:nvPr>
        </p:nvSpPr>
        <p:spPr>
          <a:xfrm>
            <a:off x="1295402" y="530942"/>
            <a:ext cx="9601196" cy="1120877"/>
          </a:xfrm>
        </p:spPr>
        <p:txBody>
          <a:bodyPr>
            <a:normAutofit fontScale="90000"/>
          </a:bodyPr>
          <a:lstStyle/>
          <a:p>
            <a:br>
              <a:rPr lang="en-IN" b="1"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SLIDE 7 – ALGORITHM</a:t>
            </a:r>
            <a:br>
              <a:rPr lang="en-IN" b="1" dirty="0">
                <a:latin typeface="Times New Roman" panose="02020603050405020304" pitchFamily="18" charset="0"/>
                <a:cs typeface="Times New Roman" panose="02020603050405020304" pitchFamily="18" charset="0"/>
              </a:rPr>
            </a:br>
            <a:br>
              <a:rPr lang="en-IN" b="1"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42BE2BA-339F-3191-A36D-99643F133ECA}"/>
              </a:ext>
            </a:extLst>
          </p:cNvPr>
          <p:cNvSpPr>
            <a:spLocks noGrp="1"/>
          </p:cNvSpPr>
          <p:nvPr>
            <p:ph idx="1"/>
          </p:nvPr>
        </p:nvSpPr>
        <p:spPr>
          <a:xfrm>
            <a:off x="1295401" y="1091381"/>
            <a:ext cx="9601196" cy="4784487"/>
          </a:xfrm>
        </p:spPr>
        <p:txBody>
          <a:bodyPr>
            <a:noAutofit/>
          </a:bodyPr>
          <a:lstStyle/>
          <a:p>
            <a:pPr marL="514350" indent="-514350">
              <a:buFont typeface="+mj-lt"/>
              <a:buAutoNum type="arabicPeriod"/>
            </a:pPr>
            <a:r>
              <a:rPr lang="en-IN" sz="2000" dirty="0">
                <a:latin typeface="Times New Roman" panose="02020603050405020304" pitchFamily="18" charset="0"/>
                <a:cs typeface="Times New Roman" panose="02020603050405020304" pitchFamily="18" charset="0"/>
              </a:rPr>
              <a:t>Accept password.</a:t>
            </a:r>
          </a:p>
          <a:p>
            <a:pPr marL="514350" indent="-514350">
              <a:buFont typeface="+mj-lt"/>
              <a:buAutoNum type="arabicPeriod"/>
            </a:pPr>
            <a:r>
              <a:rPr lang="en-IN" sz="2000" dirty="0">
                <a:latin typeface="Times New Roman" panose="02020603050405020304" pitchFamily="18" charset="0"/>
                <a:cs typeface="Times New Roman" panose="02020603050405020304" pitchFamily="18" charset="0"/>
              </a:rPr>
              <a:t>Check password length. </a:t>
            </a:r>
          </a:p>
          <a:p>
            <a:pPr marL="514350" indent="-514350">
              <a:buFont typeface="+mj-lt"/>
              <a:buAutoNum type="arabicPeriod"/>
            </a:pPr>
            <a:r>
              <a:rPr lang="en-IN" sz="2000" dirty="0">
                <a:latin typeface="Times New Roman" panose="02020603050405020304" pitchFamily="18" charset="0"/>
                <a:cs typeface="Times New Roman" panose="02020603050405020304" pitchFamily="18" charset="0"/>
              </a:rPr>
              <a:t>Verify uppercase letters.</a:t>
            </a:r>
          </a:p>
          <a:p>
            <a:pPr marL="514350" indent="-514350">
              <a:buFont typeface="+mj-lt"/>
              <a:buAutoNum type="arabicPeriod"/>
            </a:pPr>
            <a:r>
              <a:rPr lang="en-IN" sz="2000" dirty="0">
                <a:latin typeface="Times New Roman" panose="02020603050405020304" pitchFamily="18" charset="0"/>
                <a:cs typeface="Times New Roman" panose="02020603050405020304" pitchFamily="18" charset="0"/>
              </a:rPr>
              <a:t>Verify lowercase letters. </a:t>
            </a:r>
          </a:p>
          <a:p>
            <a:pPr marL="514350" indent="-514350">
              <a:buFont typeface="+mj-lt"/>
              <a:buAutoNum type="arabicPeriod"/>
            </a:pPr>
            <a:r>
              <a:rPr lang="en-IN" sz="2000" dirty="0">
                <a:latin typeface="Times New Roman" panose="02020603050405020304" pitchFamily="18" charset="0"/>
                <a:cs typeface="Times New Roman" panose="02020603050405020304" pitchFamily="18" charset="0"/>
              </a:rPr>
              <a:t>Verify numbers. </a:t>
            </a:r>
          </a:p>
          <a:p>
            <a:pPr marL="514350" indent="-514350">
              <a:buFont typeface="+mj-lt"/>
              <a:buAutoNum type="arabicPeriod"/>
            </a:pPr>
            <a:r>
              <a:rPr lang="en-IN" sz="2000" dirty="0">
                <a:latin typeface="Times New Roman" panose="02020603050405020304" pitchFamily="18" charset="0"/>
                <a:cs typeface="Times New Roman" panose="02020603050405020304" pitchFamily="18" charset="0"/>
              </a:rPr>
              <a:t>Verify special characters. </a:t>
            </a:r>
          </a:p>
          <a:p>
            <a:pPr marL="514350" indent="-514350">
              <a:buFont typeface="+mj-lt"/>
              <a:buAutoNum type="arabicPeriod"/>
            </a:pPr>
            <a:r>
              <a:rPr lang="en-IN" sz="2000" dirty="0">
                <a:latin typeface="Times New Roman" panose="02020603050405020304" pitchFamily="18" charset="0"/>
                <a:cs typeface="Times New Roman" panose="02020603050405020304" pitchFamily="18" charset="0"/>
              </a:rPr>
              <a:t>Detect weak passwords. </a:t>
            </a:r>
          </a:p>
          <a:p>
            <a:pPr marL="514350" indent="-514350">
              <a:buFont typeface="+mj-lt"/>
              <a:buAutoNum type="arabicPeriod"/>
            </a:pPr>
            <a:r>
              <a:rPr lang="en-IN" sz="2000" dirty="0">
                <a:latin typeface="Times New Roman" panose="02020603050405020304" pitchFamily="18" charset="0"/>
                <a:cs typeface="Times New Roman" panose="02020603050405020304" pitchFamily="18" charset="0"/>
              </a:rPr>
              <a:t>Detect sequential patterns.</a:t>
            </a:r>
          </a:p>
          <a:p>
            <a:pPr marL="514350" indent="-514350">
              <a:buFont typeface="+mj-lt"/>
              <a:buAutoNum type="arabicPeriod"/>
            </a:pPr>
            <a:r>
              <a:rPr lang="en-IN" sz="2000" dirty="0">
                <a:latin typeface="Times New Roman" panose="02020603050405020304" pitchFamily="18" charset="0"/>
                <a:cs typeface="Times New Roman" panose="02020603050405020304" pitchFamily="18" charset="0"/>
              </a:rPr>
              <a:t>Detect repeated characters.</a:t>
            </a:r>
          </a:p>
          <a:p>
            <a:pPr marL="514350" indent="-514350">
              <a:buFont typeface="+mj-lt"/>
              <a:buAutoNum type="arabicPeriod"/>
            </a:pPr>
            <a:r>
              <a:rPr lang="en-IN" sz="2000" dirty="0">
                <a:latin typeface="Times New Roman" panose="02020603050405020304" pitchFamily="18" charset="0"/>
                <a:cs typeface="Times New Roman" panose="02020603050405020304" pitchFamily="18" charset="0"/>
              </a:rPr>
              <a:t>Calculate score. </a:t>
            </a:r>
          </a:p>
          <a:p>
            <a:pPr marL="514350" indent="-514350">
              <a:buFont typeface="+mj-lt"/>
              <a:buAutoNum type="arabicPeriod"/>
            </a:pPr>
            <a:r>
              <a:rPr lang="en-IN" sz="2000" dirty="0">
                <a:latin typeface="Times New Roman" panose="02020603050405020304" pitchFamily="18" charset="0"/>
                <a:cs typeface="Times New Roman" panose="02020603050405020304" pitchFamily="18" charset="0"/>
              </a:rPr>
              <a:t>Display password strength. </a:t>
            </a:r>
          </a:p>
          <a:p>
            <a:pPr marL="514350" indent="-514350">
              <a:buFont typeface="+mj-lt"/>
              <a:buAutoNum type="arabicPeriod"/>
            </a:pPr>
            <a:r>
              <a:rPr lang="en-IN" sz="2000" dirty="0">
                <a:latin typeface="Times New Roman" panose="02020603050405020304" pitchFamily="18" charset="0"/>
                <a:cs typeface="Times New Roman" panose="02020603050405020304" pitchFamily="18" charset="0"/>
              </a:rPr>
              <a:t>Generate suggestions.</a:t>
            </a:r>
          </a:p>
        </p:txBody>
      </p:sp>
    </p:spTree>
    <p:extLst>
      <p:ext uri="{BB962C8B-B14F-4D97-AF65-F5344CB8AC3E}">
        <p14:creationId xmlns:p14="http://schemas.microsoft.com/office/powerpoint/2010/main" val="8699627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08C88B-07B9-8981-1A65-FD71E55B8262}"/>
              </a:ext>
            </a:extLst>
          </p:cNvPr>
          <p:cNvSpPr>
            <a:spLocks noGrp="1"/>
          </p:cNvSpPr>
          <p:nvPr>
            <p:ph type="title"/>
          </p:nvPr>
        </p:nvSpPr>
        <p:spPr/>
        <p:txBody>
          <a:bodyPr>
            <a:normAutofit fontScale="90000"/>
          </a:bodyPr>
          <a:lstStyle/>
          <a:p>
            <a:br>
              <a:rPr lang="en-IN" b="1" dirty="0"/>
            </a:br>
            <a:r>
              <a:rPr lang="en-IN" b="1" dirty="0">
                <a:latin typeface="Times New Roman" panose="02020603050405020304" pitchFamily="18" charset="0"/>
                <a:cs typeface="Times New Roman" panose="02020603050405020304" pitchFamily="18" charset="0"/>
              </a:rPr>
              <a:t>SLIDE 8 – PROJECT FEATURES</a:t>
            </a:r>
            <a:br>
              <a:rPr lang="en-IN" b="1"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Key Features</a:t>
            </a:r>
            <a:br>
              <a:rPr lang="en-IN" b="1" dirty="0"/>
            </a:br>
            <a:endParaRPr lang="en-IN" dirty="0"/>
          </a:p>
        </p:txBody>
      </p:sp>
      <p:sp>
        <p:nvSpPr>
          <p:cNvPr id="3" name="Content Placeholder 2">
            <a:extLst>
              <a:ext uri="{FF2B5EF4-FFF2-40B4-BE49-F238E27FC236}">
                <a16:creationId xmlns:a16="http://schemas.microsoft.com/office/drawing/2014/main" id="{134D9E1C-804E-F6E9-BC04-B51F40C1211A}"/>
              </a:ext>
            </a:extLst>
          </p:cNvPr>
          <p:cNvSpPr>
            <a:spLocks noGrp="1"/>
          </p:cNvSpPr>
          <p:nvPr>
            <p:ph idx="1"/>
          </p:nvPr>
        </p:nvSpPr>
        <p:spPr>
          <a:xfrm>
            <a:off x="1295401" y="2556932"/>
            <a:ext cx="9601196" cy="3598062"/>
          </a:xfrm>
        </p:spPr>
        <p:txBody>
          <a:bodyPr>
            <a:noAutofit/>
          </a:bodyPr>
          <a:lstStyle/>
          <a:p>
            <a:r>
              <a:rPr lang="en-IN" sz="1500" dirty="0">
                <a:latin typeface="Times New Roman" panose="02020603050405020304" pitchFamily="18" charset="0"/>
                <a:cs typeface="Times New Roman" panose="02020603050405020304" pitchFamily="18" charset="0"/>
              </a:rPr>
              <a:t>✔ Password Length Validation</a:t>
            </a:r>
          </a:p>
          <a:p>
            <a:r>
              <a:rPr lang="en-IN" sz="1500" dirty="0">
                <a:latin typeface="Times New Roman" panose="02020603050405020304" pitchFamily="18" charset="0"/>
                <a:cs typeface="Times New Roman" panose="02020603050405020304" pitchFamily="18" charset="0"/>
              </a:rPr>
              <a:t>✔ Uppercase Detection</a:t>
            </a:r>
          </a:p>
          <a:p>
            <a:r>
              <a:rPr lang="en-IN" sz="1500" dirty="0">
                <a:latin typeface="Times New Roman" panose="02020603050405020304" pitchFamily="18" charset="0"/>
                <a:cs typeface="Times New Roman" panose="02020603050405020304" pitchFamily="18" charset="0"/>
              </a:rPr>
              <a:t>✔ Lowercase Detection</a:t>
            </a:r>
          </a:p>
          <a:p>
            <a:r>
              <a:rPr lang="en-IN" sz="1500" dirty="0">
                <a:latin typeface="Times New Roman" panose="02020603050405020304" pitchFamily="18" charset="0"/>
                <a:cs typeface="Times New Roman" panose="02020603050405020304" pitchFamily="18" charset="0"/>
              </a:rPr>
              <a:t>✔ Number Detection</a:t>
            </a:r>
          </a:p>
          <a:p>
            <a:r>
              <a:rPr lang="en-IN" sz="1500" dirty="0">
                <a:latin typeface="Times New Roman" panose="02020603050405020304" pitchFamily="18" charset="0"/>
                <a:cs typeface="Times New Roman" panose="02020603050405020304" pitchFamily="18" charset="0"/>
              </a:rPr>
              <a:t>✔ Special Character Detection</a:t>
            </a:r>
          </a:p>
          <a:p>
            <a:r>
              <a:rPr lang="en-IN" sz="1500" dirty="0">
                <a:latin typeface="Times New Roman" panose="02020603050405020304" pitchFamily="18" charset="0"/>
                <a:cs typeface="Times New Roman" panose="02020603050405020304" pitchFamily="18" charset="0"/>
              </a:rPr>
              <a:t>✔ Weak Password Detection</a:t>
            </a:r>
          </a:p>
          <a:p>
            <a:r>
              <a:rPr lang="en-IN" sz="1500" dirty="0">
                <a:latin typeface="Times New Roman" panose="02020603050405020304" pitchFamily="18" charset="0"/>
                <a:cs typeface="Times New Roman" panose="02020603050405020304" pitchFamily="18" charset="0"/>
              </a:rPr>
              <a:t>✔ Sequential Pattern Detection</a:t>
            </a:r>
          </a:p>
          <a:p>
            <a:r>
              <a:rPr lang="en-IN" sz="1500" dirty="0">
                <a:latin typeface="Times New Roman" panose="02020603050405020304" pitchFamily="18" charset="0"/>
                <a:cs typeface="Times New Roman" panose="02020603050405020304" pitchFamily="18" charset="0"/>
              </a:rPr>
              <a:t>✔ Repeated Character Detection</a:t>
            </a:r>
          </a:p>
          <a:p>
            <a:r>
              <a:rPr lang="en-IN" sz="1500" dirty="0">
                <a:latin typeface="Times New Roman" panose="02020603050405020304" pitchFamily="18" charset="0"/>
                <a:cs typeface="Times New Roman" panose="02020603050405020304" pitchFamily="18" charset="0"/>
              </a:rPr>
              <a:t>✔ Password Strength Classification</a:t>
            </a:r>
          </a:p>
          <a:p>
            <a:r>
              <a:rPr lang="en-IN" sz="1500" dirty="0">
                <a:latin typeface="Times New Roman" panose="02020603050405020304" pitchFamily="18" charset="0"/>
                <a:cs typeface="Times New Roman" panose="02020603050405020304" pitchFamily="18" charset="0"/>
              </a:rPr>
              <a:t>✔ Improvement Suggestions</a:t>
            </a:r>
          </a:p>
          <a:p>
            <a:pPr marL="0" indent="0">
              <a:buNone/>
            </a:pPr>
            <a:endParaRPr lang="en-IN" sz="17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671059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14F48D-56CC-5A8C-0841-906B41543B1D}"/>
              </a:ext>
            </a:extLst>
          </p:cNvPr>
          <p:cNvSpPr>
            <a:spLocks noGrp="1"/>
          </p:cNvSpPr>
          <p:nvPr>
            <p:ph type="title"/>
          </p:nvPr>
        </p:nvSpPr>
        <p:spPr>
          <a:xfrm>
            <a:off x="1295402" y="982132"/>
            <a:ext cx="9601196" cy="954823"/>
          </a:xfrm>
        </p:spPr>
        <p:txBody>
          <a:bodyPr>
            <a:normAutofit fontScale="90000"/>
          </a:bodyPr>
          <a:lstStyle/>
          <a:p>
            <a:br>
              <a:rPr lang="en-IN" b="1" dirty="0"/>
            </a:br>
            <a:r>
              <a:rPr lang="en-IN" b="1" dirty="0">
                <a:latin typeface="Times New Roman" panose="02020603050405020304" pitchFamily="18" charset="0"/>
                <a:cs typeface="Times New Roman" panose="02020603050405020304" pitchFamily="18" charset="0"/>
              </a:rPr>
              <a:t>SLIDE 9 – ADVANTAGES</a:t>
            </a:r>
            <a:br>
              <a:rPr lang="en-IN" b="1" dirty="0"/>
            </a:br>
            <a:br>
              <a:rPr lang="en-IN" b="1" dirty="0"/>
            </a:br>
            <a:endParaRPr lang="en-IN" dirty="0"/>
          </a:p>
        </p:txBody>
      </p:sp>
      <p:sp>
        <p:nvSpPr>
          <p:cNvPr id="3" name="Content Placeholder 2">
            <a:extLst>
              <a:ext uri="{FF2B5EF4-FFF2-40B4-BE49-F238E27FC236}">
                <a16:creationId xmlns:a16="http://schemas.microsoft.com/office/drawing/2014/main" id="{A1105772-0897-086A-8C6E-6FBD992CDA49}"/>
              </a:ext>
            </a:extLst>
          </p:cNvPr>
          <p:cNvSpPr>
            <a:spLocks noGrp="1"/>
          </p:cNvSpPr>
          <p:nvPr>
            <p:ph idx="1"/>
          </p:nvPr>
        </p:nvSpPr>
        <p:spPr/>
        <p:txBody>
          <a:bodyPr>
            <a:noAutofit/>
          </a:bodyPr>
          <a:lstStyle/>
          <a:p>
            <a:r>
              <a:rPr lang="en-IN" sz="2800" dirty="0">
                <a:latin typeface="Times New Roman" panose="02020603050405020304" pitchFamily="18" charset="0"/>
                <a:cs typeface="Times New Roman" panose="02020603050405020304" pitchFamily="18" charset="0"/>
              </a:rPr>
              <a:t>Easy to use</a:t>
            </a:r>
          </a:p>
          <a:p>
            <a:r>
              <a:rPr lang="en-IN" sz="2800" dirty="0">
                <a:latin typeface="Times New Roman" panose="02020603050405020304" pitchFamily="18" charset="0"/>
                <a:cs typeface="Times New Roman" panose="02020603050405020304" pitchFamily="18" charset="0"/>
              </a:rPr>
              <a:t>Fast password analysis </a:t>
            </a:r>
          </a:p>
          <a:p>
            <a:r>
              <a:rPr lang="en-IN" sz="2800" dirty="0">
                <a:latin typeface="Times New Roman" panose="02020603050405020304" pitchFamily="18" charset="0"/>
                <a:cs typeface="Times New Roman" panose="02020603050405020304" pitchFamily="18" charset="0"/>
              </a:rPr>
              <a:t>Improves password security </a:t>
            </a:r>
          </a:p>
          <a:p>
            <a:r>
              <a:rPr lang="en-IN" sz="2800" dirty="0">
                <a:latin typeface="Times New Roman" panose="02020603050405020304" pitchFamily="18" charset="0"/>
                <a:cs typeface="Times New Roman" panose="02020603050405020304" pitchFamily="18" charset="0"/>
              </a:rPr>
              <a:t>Detects weak passwords </a:t>
            </a:r>
          </a:p>
          <a:p>
            <a:r>
              <a:rPr lang="en-IN" sz="2800" dirty="0">
                <a:latin typeface="Times New Roman" panose="02020603050405020304" pitchFamily="18" charset="0"/>
                <a:cs typeface="Times New Roman" panose="02020603050405020304" pitchFamily="18" charset="0"/>
              </a:rPr>
              <a:t>User-friendly </a:t>
            </a:r>
          </a:p>
          <a:p>
            <a:r>
              <a:rPr lang="en-IN" sz="2800" dirty="0">
                <a:latin typeface="Times New Roman" panose="02020603050405020304" pitchFamily="18" charset="0"/>
                <a:cs typeface="Times New Roman" panose="02020603050405020304" pitchFamily="18" charset="0"/>
              </a:rPr>
              <a:t>Lightweight application</a:t>
            </a:r>
          </a:p>
        </p:txBody>
      </p:sp>
    </p:spTree>
    <p:extLst>
      <p:ext uri="{BB962C8B-B14F-4D97-AF65-F5344CB8AC3E}">
        <p14:creationId xmlns:p14="http://schemas.microsoft.com/office/powerpoint/2010/main" val="40038275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C5863-1298-4626-9FB2-DE2A4F5D19CF}"/>
              </a:ext>
            </a:extLst>
          </p:cNvPr>
          <p:cNvSpPr>
            <a:spLocks noGrp="1"/>
          </p:cNvSpPr>
          <p:nvPr>
            <p:ph type="title"/>
          </p:nvPr>
        </p:nvSpPr>
        <p:spPr/>
        <p:txBody>
          <a:bodyPr>
            <a:normAutofit fontScale="90000"/>
          </a:bodyPr>
          <a:lstStyle/>
          <a:p>
            <a:br>
              <a:rPr lang="en-IN" b="1"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SLIDE 10 – CONCLUSION</a:t>
            </a:r>
            <a:br>
              <a:rPr lang="en-IN" b="1" dirty="0">
                <a:latin typeface="Times New Roman" panose="02020603050405020304" pitchFamily="18" charset="0"/>
                <a:cs typeface="Times New Roman" panose="02020603050405020304" pitchFamily="18" charset="0"/>
              </a:rPr>
            </a:br>
            <a:br>
              <a:rPr lang="en-IN" b="1"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A21403C-E8E9-60CF-75EE-00A35C0EA827}"/>
              </a:ext>
            </a:extLst>
          </p:cNvPr>
          <p:cNvSpPr>
            <a:spLocks noGrp="1"/>
          </p:cNvSpPr>
          <p:nvPr>
            <p:ph idx="1"/>
          </p:nvPr>
        </p:nvSpPr>
        <p:spPr/>
        <p:txBody>
          <a:bodyPr/>
          <a:lstStyle/>
          <a:p>
            <a:r>
              <a:rPr lang="en-IN" dirty="0">
                <a:latin typeface="Times New Roman" panose="02020603050405020304" pitchFamily="18" charset="0"/>
                <a:cs typeface="Times New Roman" panose="02020603050405020304" pitchFamily="18" charset="0"/>
              </a:rPr>
              <a:t>The Password Strength Analyzer successfully evaluates password strength using predefined security rules. The project helps users create stronger passwords, improves cybersecurity awareness, and demonstrates the practical application of Python in cybersecurity.</a:t>
            </a:r>
          </a:p>
          <a:p>
            <a:r>
              <a:rPr lang="en-IN" dirty="0">
                <a:latin typeface="Times New Roman" panose="02020603050405020304" pitchFamily="18" charset="0"/>
                <a:cs typeface="Times New Roman" panose="02020603050405020304" pitchFamily="18" charset="0"/>
              </a:rPr>
              <a:t>The project achieved all the planned objectives and can be extended with advanced security features in future versions</a:t>
            </a:r>
            <a:r>
              <a:rPr lang="en-IN" dirty="0"/>
              <a:t>.</a:t>
            </a:r>
          </a:p>
          <a:p>
            <a:pPr marL="0" indent="0">
              <a:buNone/>
            </a:pPr>
            <a:endParaRPr lang="en-IN" dirty="0"/>
          </a:p>
        </p:txBody>
      </p:sp>
    </p:spTree>
    <p:extLst>
      <p:ext uri="{BB962C8B-B14F-4D97-AF65-F5344CB8AC3E}">
        <p14:creationId xmlns:p14="http://schemas.microsoft.com/office/powerpoint/2010/main" val="2795765610"/>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57</TotalTime>
  <Words>435</Words>
  <Application>Microsoft Office PowerPoint</Application>
  <PresentationFormat>Widescreen</PresentationFormat>
  <Paragraphs>84</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Garamond</vt:lpstr>
      <vt:lpstr>Times New Roman</vt:lpstr>
      <vt:lpstr>Organic</vt:lpstr>
      <vt:lpstr> Password Strength Analyzer Ethical Hacking &amp; Cybersecurity Internship </vt:lpstr>
      <vt:lpstr>   SLIDE 2 – INTRODUCTION Introduction </vt:lpstr>
      <vt:lpstr>  SLIDE 3 – PROBLEM STATEMENT  </vt:lpstr>
      <vt:lpstr>SLIDE 4 – OBJECTIVES</vt:lpstr>
      <vt:lpstr> SLIDE 5 – TECHNOLOGIES USED  </vt:lpstr>
      <vt:lpstr> SLIDE 6 – PROJECT WORKFLOW  </vt:lpstr>
      <vt:lpstr> SLIDE 7 – ALGORITHM  </vt:lpstr>
      <vt:lpstr> SLIDE 8 – PROJECT FEATURES Key Features </vt:lpstr>
      <vt:lpstr> SLIDE 9 – ADVANTAGES  </vt:lpstr>
      <vt:lpstr> SLIDE 10 – 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Thonduru Premsai</dc:creator>
  <cp:lastModifiedBy>Thonduru Premsai</cp:lastModifiedBy>
  <cp:revision>1</cp:revision>
  <dcterms:created xsi:type="dcterms:W3CDTF">2026-07-06T12:22:00Z</dcterms:created>
  <dcterms:modified xsi:type="dcterms:W3CDTF">2026-07-06T13:19:38Z</dcterms:modified>
</cp:coreProperties>
</file>